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svg" ContentType="image/sv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693400" cy="7556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5960" cy="585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480" cy="585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D1A4861-E8EE-4051-B372-CC1844E37EC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3725396-D59D-4B85-88EB-E9CF0519E49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0960" cy="136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pt-BR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096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2400F5-3765-433E-9964-4C7EB136A2D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040" cy="452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040" cy="452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168271-B481-4CFA-AC27-DE8C9638DC4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8840" cy="63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8840" cy="39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280" cy="63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280" cy="39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403926-8393-4A2C-A3E1-97ABA0E8026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6F6F9A-6F17-44AA-85C7-1B3F93DE0E1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9B5F879-3824-4DB7-998F-CAC9924AFB3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6720" cy="116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200" cy="585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6720" cy="468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138D1C1-503F-43A0-B103-795FABE7AB20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4960" cy="56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4960" cy="80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C066B1-9B3E-4369-8109-27310C08FBC0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D09019-2D06-491A-BB45-2CF3CFA9139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A8801E9-8577-412B-B488-C1C2A7124EF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f6c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2"/>
          <p:cNvGrpSpPr/>
          <p:nvPr/>
        </p:nvGrpSpPr>
        <p:grpSpPr>
          <a:xfrm>
            <a:off x="370080" y="258120"/>
            <a:ext cx="9957240" cy="6943680"/>
            <a:chOff x="370080" y="258120"/>
            <a:chExt cx="9957240" cy="6943680"/>
          </a:xfrm>
        </p:grpSpPr>
        <p:sp>
          <p:nvSpPr>
            <p:cNvPr id="58" name="Freeform 3"/>
            <p:cNvSpPr/>
            <p:nvPr/>
          </p:nvSpPr>
          <p:spPr>
            <a:xfrm>
              <a:off x="370080" y="357120"/>
              <a:ext cx="9957240" cy="6844680"/>
            </a:xfrm>
            <a:custGeom>
              <a:avLst/>
              <a:gdLst>
                <a:gd name="textAreaLeft" fmla="*/ 0 w 9957240"/>
                <a:gd name="textAreaRight" fmla="*/ 9958680 w 9957240"/>
                <a:gd name="textAreaTop" fmla="*/ 0 h 6844680"/>
                <a:gd name="textAreaBottom" fmla="*/ 6846120 h 6844680"/>
              </a:gdLst>
              <a:ahLst/>
              <a:cxnLst/>
              <a:rect l="textAreaLeft" t="textAreaTop" r="textAreaRight" b="textAreaBottom"/>
              <a:pathLst>
                <a:path w="3842203" h="2641334">
                  <a:moveTo>
                    <a:pt x="0" y="0"/>
                  </a:moveTo>
                  <a:lnTo>
                    <a:pt x="3842203" y="0"/>
                  </a:lnTo>
                  <a:lnTo>
                    <a:pt x="3842203" y="2641334"/>
                  </a:lnTo>
                  <a:lnTo>
                    <a:pt x="0" y="2641334"/>
                  </a:lnTo>
                  <a:close/>
                </a:path>
              </a:pathLst>
            </a:custGeom>
            <a:noFill/>
            <a:ln cap="sq" w="7620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pt-BR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" name="TextBox 4"/>
            <p:cNvSpPr/>
            <p:nvPr/>
          </p:nvSpPr>
          <p:spPr>
            <a:xfrm>
              <a:off x="370080" y="258120"/>
              <a:ext cx="9957240" cy="694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659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60" name="Group 5"/>
          <p:cNvGrpSpPr/>
          <p:nvPr/>
        </p:nvGrpSpPr>
        <p:grpSpPr>
          <a:xfrm>
            <a:off x="624960" y="527400"/>
            <a:ext cx="9440280" cy="6412320"/>
            <a:chOff x="624960" y="527400"/>
            <a:chExt cx="9440280" cy="6412320"/>
          </a:xfrm>
        </p:grpSpPr>
        <p:sp>
          <p:nvSpPr>
            <p:cNvPr id="61" name="Freeform 6"/>
            <p:cNvSpPr/>
            <p:nvPr/>
          </p:nvSpPr>
          <p:spPr>
            <a:xfrm>
              <a:off x="624960" y="618840"/>
              <a:ext cx="9440280" cy="6320880"/>
            </a:xfrm>
            <a:custGeom>
              <a:avLst/>
              <a:gdLst>
                <a:gd name="textAreaLeft" fmla="*/ 0 w 9440280"/>
                <a:gd name="textAreaRight" fmla="*/ 9441720 w 9440280"/>
                <a:gd name="textAreaTop" fmla="*/ 0 h 6320880"/>
                <a:gd name="textAreaBottom" fmla="*/ 6322320 h 6320880"/>
              </a:gdLst>
              <a:ahLst/>
              <a:cxnLst/>
              <a:rect l="textAreaLeft" t="textAreaTop" r="textAreaRight" b="textAreaBottom"/>
              <a:pathLst>
                <a:path w="3932791" h="2633370">
                  <a:moveTo>
                    <a:pt x="0" y="0"/>
                  </a:moveTo>
                  <a:lnTo>
                    <a:pt x="3932791" y="0"/>
                  </a:lnTo>
                  <a:lnTo>
                    <a:pt x="3932791" y="2633370"/>
                  </a:lnTo>
                  <a:lnTo>
                    <a:pt x="0" y="2633370"/>
                  </a:ln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pt-BR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TextBox 7"/>
            <p:cNvSpPr/>
            <p:nvPr/>
          </p:nvSpPr>
          <p:spPr>
            <a:xfrm>
              <a:off x="624960" y="527400"/>
              <a:ext cx="9440280" cy="6412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659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3" name="Freeform 8"/>
          <p:cNvSpPr/>
          <p:nvPr/>
        </p:nvSpPr>
        <p:spPr>
          <a:xfrm>
            <a:off x="676440" y="631080"/>
            <a:ext cx="9338040" cy="6296040"/>
          </a:xfrm>
          <a:custGeom>
            <a:avLst/>
            <a:gdLst>
              <a:gd name="textAreaLeft" fmla="*/ 0 w 9338040"/>
              <a:gd name="textAreaRight" fmla="*/ 9339480 w 9338040"/>
              <a:gd name="textAreaTop" fmla="*/ 0 h 6296040"/>
              <a:gd name="textAreaBottom" fmla="*/ 6297480 h 6296040"/>
            </a:gdLst>
            <a:ahLst/>
            <a:cxnLst/>
            <a:rect l="textAreaLeft" t="textAreaTop" r="textAreaRight" b="textAreaBottom"/>
            <a:pathLst>
              <a:path w="9339326" h="6297531">
                <a:moveTo>
                  <a:pt x="0" y="0"/>
                </a:moveTo>
                <a:lnTo>
                  <a:pt x="9339326" y="0"/>
                </a:lnTo>
                <a:lnTo>
                  <a:pt x="9339326" y="6297530"/>
                </a:lnTo>
                <a:lnTo>
                  <a:pt x="0" y="629753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  <a:alphaModFix amt="5000"/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9"/>
          <p:cNvGrpSpPr/>
          <p:nvPr/>
        </p:nvGrpSpPr>
        <p:grpSpPr>
          <a:xfrm>
            <a:off x="3066480" y="919080"/>
            <a:ext cx="4525200" cy="918360"/>
            <a:chOff x="3066480" y="919080"/>
            <a:chExt cx="4525200" cy="918360"/>
          </a:xfrm>
        </p:grpSpPr>
        <p:sp>
          <p:nvSpPr>
            <p:cNvPr id="65" name="Freeform 10"/>
            <p:cNvSpPr/>
            <p:nvPr/>
          </p:nvSpPr>
          <p:spPr>
            <a:xfrm>
              <a:off x="3066480" y="1025640"/>
              <a:ext cx="4525200" cy="811800"/>
            </a:xfrm>
            <a:custGeom>
              <a:avLst/>
              <a:gdLst>
                <a:gd name="textAreaLeft" fmla="*/ 0 w 4525200"/>
                <a:gd name="textAreaRight" fmla="*/ 4526640 w 4525200"/>
                <a:gd name="textAreaTop" fmla="*/ 0 h 811800"/>
                <a:gd name="textAreaBottom" fmla="*/ 813240 h 811800"/>
              </a:gdLst>
              <a:ahLst/>
              <a:cxnLst/>
              <a:rect l="textAreaLeft" t="textAreaTop" r="textAreaRight" b="textAreaBottom"/>
              <a:pathLst>
                <a:path w="1622212" h="291407">
                  <a:moveTo>
                    <a:pt x="1604709" y="0"/>
                  </a:moveTo>
                  <a:lnTo>
                    <a:pt x="17503" y="0"/>
                  </a:lnTo>
                  <a:cubicBezTo>
                    <a:pt x="10983" y="0"/>
                    <a:pt x="5002" y="3625"/>
                    <a:pt x="1986" y="9406"/>
                  </a:cubicBezTo>
                  <a:cubicBezTo>
                    <a:pt x="-1031" y="15187"/>
                    <a:pt x="-584" y="22166"/>
                    <a:pt x="3146" y="27515"/>
                  </a:cubicBezTo>
                  <a:lnTo>
                    <a:pt x="66374" y="118189"/>
                  </a:lnTo>
                  <a:cubicBezTo>
                    <a:pt x="77902" y="134721"/>
                    <a:pt x="77902" y="156686"/>
                    <a:pt x="66374" y="173218"/>
                  </a:cubicBezTo>
                  <a:lnTo>
                    <a:pt x="3146" y="263892"/>
                  </a:lnTo>
                  <a:cubicBezTo>
                    <a:pt x="-584" y="269241"/>
                    <a:pt x="-1031" y="276220"/>
                    <a:pt x="1986" y="282001"/>
                  </a:cubicBezTo>
                  <a:cubicBezTo>
                    <a:pt x="5002" y="287782"/>
                    <a:pt x="10983" y="291407"/>
                    <a:pt x="17503" y="291407"/>
                  </a:cubicBezTo>
                  <a:lnTo>
                    <a:pt x="1604709" y="291407"/>
                  </a:lnTo>
                  <a:cubicBezTo>
                    <a:pt x="1611230" y="291407"/>
                    <a:pt x="1617210" y="287782"/>
                    <a:pt x="1620227" y="282001"/>
                  </a:cubicBezTo>
                  <a:cubicBezTo>
                    <a:pt x="1623243" y="276220"/>
                    <a:pt x="1622796" y="269241"/>
                    <a:pt x="1619067" y="263892"/>
                  </a:cubicBezTo>
                  <a:lnTo>
                    <a:pt x="1555839" y="173218"/>
                  </a:lnTo>
                  <a:cubicBezTo>
                    <a:pt x="1544311" y="156686"/>
                    <a:pt x="1544311" y="134721"/>
                    <a:pt x="1555839" y="118189"/>
                  </a:cubicBezTo>
                  <a:lnTo>
                    <a:pt x="1619067" y="27515"/>
                  </a:lnTo>
                  <a:cubicBezTo>
                    <a:pt x="1622796" y="22166"/>
                    <a:pt x="1623243" y="15187"/>
                    <a:pt x="1620227" y="9406"/>
                  </a:cubicBezTo>
                  <a:cubicBezTo>
                    <a:pt x="1617210" y="3625"/>
                    <a:pt x="1611230" y="0"/>
                    <a:pt x="1604709" y="0"/>
                  </a:cubicBezTo>
                  <a:close/>
                </a:path>
              </a:pathLst>
            </a:custGeom>
            <a:solidFill>
              <a:srgbClr val="4f6c8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pt-BR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TextBox 11"/>
            <p:cNvSpPr/>
            <p:nvPr/>
          </p:nvSpPr>
          <p:spPr>
            <a:xfrm>
              <a:off x="3269880" y="919080"/>
              <a:ext cx="4118400" cy="918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659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7" name="TextBox 12"/>
          <p:cNvSpPr/>
          <p:nvPr/>
        </p:nvSpPr>
        <p:spPr>
          <a:xfrm>
            <a:off x="3495240" y="1848960"/>
            <a:ext cx="3706560" cy="35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940"/>
              </a:lnSpc>
            </a:pPr>
            <a:r>
              <a:rPr b="0" lang="en-US" sz="2100" spc="65" strike="noStrike" u="none">
                <a:solidFill>
                  <a:srgbClr val="000000"/>
                </a:solidFill>
                <a:effectLst/>
                <a:uFillTx/>
                <a:latin typeface="Inter"/>
                <a:ea typeface="Inter"/>
              </a:rPr>
              <a:t>{TipoCertificado}</a:t>
            </a:r>
            <a:endParaRPr b="0" lang="pt-B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3"/>
          <p:cNvSpPr/>
          <p:nvPr/>
        </p:nvSpPr>
        <p:spPr>
          <a:xfrm>
            <a:off x="3460680" y="1060920"/>
            <a:ext cx="271656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513"/>
              </a:lnSpc>
            </a:pPr>
            <a:r>
              <a:rPr b="1" lang="en-US" sz="3700" strike="noStrike" u="none">
                <a:solidFill>
                  <a:srgbClr val="ffffff"/>
                </a:solidFill>
                <a:effectLst/>
                <a:uFillTx/>
                <a:latin typeface="Inter Bold"/>
                <a:ea typeface="Inter Bold"/>
              </a:rPr>
              <a:t>Certificado</a:t>
            </a:r>
            <a:endParaRPr b="0" lang="pt-BR" sz="37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Freeform 14"/>
          <p:cNvSpPr/>
          <p:nvPr/>
        </p:nvSpPr>
        <p:spPr>
          <a:xfrm>
            <a:off x="6179040" y="1185120"/>
            <a:ext cx="1050840" cy="564120"/>
          </a:xfrm>
          <a:custGeom>
            <a:avLst/>
            <a:gdLst>
              <a:gd name="textAreaLeft" fmla="*/ 0 w 1050840"/>
              <a:gd name="textAreaRight" fmla="*/ 1052280 w 1050840"/>
              <a:gd name="textAreaTop" fmla="*/ 0 h 564120"/>
              <a:gd name="textAreaBottom" fmla="*/ 565560 h 564120"/>
            </a:gdLst>
            <a:ahLst/>
            <a:cxnLst/>
            <a:rect l="textAreaLeft" t="textAreaTop" r="textAreaRight" b="textAreaBottom"/>
            <a:pathLst>
              <a:path w="1052174" h="565530">
                <a:moveTo>
                  <a:pt x="0" y="0"/>
                </a:moveTo>
                <a:lnTo>
                  <a:pt x="1052174" y="0"/>
                </a:lnTo>
                <a:lnTo>
                  <a:pt x="1052174" y="565530"/>
                </a:lnTo>
                <a:lnTo>
                  <a:pt x="0" y="56553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5"/>
          <p:cNvSpPr/>
          <p:nvPr/>
        </p:nvSpPr>
        <p:spPr>
          <a:xfrm>
            <a:off x="764640" y="2921760"/>
            <a:ext cx="916092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2239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Inter"/>
                <a:ea typeface="Inter"/>
              </a:rPr>
              <a:t>Certificamos que {NomeParticipante}, CPF: {NumeroCPF}, participou do(a) {NomeEvento}, de categoria {Categoria}, organizado por {NomeOrganizador}, realizado no {LocalEvento} no dia {Data}, com carga horária de {CargaHoraria}.</a:t>
            </a:r>
            <a:endParaRPr b="0" lang="pt-B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71" name="Group 16"/>
          <p:cNvGrpSpPr/>
          <p:nvPr/>
        </p:nvGrpSpPr>
        <p:grpSpPr>
          <a:xfrm>
            <a:off x="4573080" y="5933160"/>
            <a:ext cx="1550880" cy="382680"/>
            <a:chOff x="4573080" y="5933160"/>
            <a:chExt cx="1550880" cy="382680"/>
          </a:xfrm>
        </p:grpSpPr>
        <p:sp>
          <p:nvSpPr>
            <p:cNvPr id="72" name="Freeform 17"/>
            <p:cNvSpPr/>
            <p:nvPr/>
          </p:nvSpPr>
          <p:spPr>
            <a:xfrm>
              <a:off x="4573080" y="5949000"/>
              <a:ext cx="1550880" cy="366840"/>
            </a:xfrm>
            <a:custGeom>
              <a:avLst/>
              <a:gdLst>
                <a:gd name="textAreaLeft" fmla="*/ 0 w 1550880"/>
                <a:gd name="textAreaRight" fmla="*/ 1552320 w 1550880"/>
                <a:gd name="textAreaTop" fmla="*/ 0 h 366840"/>
                <a:gd name="textAreaBottom" fmla="*/ 368280 h 366840"/>
              </a:gdLst>
              <a:ahLst/>
              <a:cxnLst/>
              <a:rect l="textAreaLeft" t="textAreaTop" r="textAreaRight" b="textAreaBottom"/>
              <a:pathLst>
                <a:path w="2778897" h="659282">
                  <a:moveTo>
                    <a:pt x="0" y="0"/>
                  </a:moveTo>
                  <a:lnTo>
                    <a:pt x="2778897" y="0"/>
                  </a:lnTo>
                  <a:lnTo>
                    <a:pt x="2778897" y="659282"/>
                  </a:lnTo>
                  <a:lnTo>
                    <a:pt x="0" y="659282"/>
                  </a:ln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pt-BR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18"/>
            <p:cNvSpPr/>
            <p:nvPr/>
          </p:nvSpPr>
          <p:spPr>
            <a:xfrm>
              <a:off x="4573080" y="5933160"/>
              <a:ext cx="1550880" cy="382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2018"/>
                </a:lnSpc>
              </a:pPr>
              <a:r>
                <a:rPr b="0" lang="en-US" sz="1530" spc="-31" strike="noStrike" u="none">
                  <a:solidFill>
                    <a:srgbClr val="000000"/>
                  </a:solidFill>
                  <a:effectLst/>
                  <a:uFillTx/>
                  <a:latin typeface="Inter"/>
                  <a:ea typeface="Inter"/>
                </a:rPr>
                <a:t>Sabará, {Data}.</a:t>
              </a:r>
              <a:endParaRPr b="0" lang="pt-BR" sz="153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4" name="Group 19"/>
          <p:cNvGrpSpPr/>
          <p:nvPr/>
        </p:nvGrpSpPr>
        <p:grpSpPr>
          <a:xfrm>
            <a:off x="2487240" y="6354360"/>
            <a:ext cx="5722920" cy="338400"/>
            <a:chOff x="2487240" y="6354360"/>
            <a:chExt cx="5722920" cy="338400"/>
          </a:xfrm>
        </p:grpSpPr>
        <p:sp>
          <p:nvSpPr>
            <p:cNvPr id="75" name="Freeform 20"/>
            <p:cNvSpPr/>
            <p:nvPr/>
          </p:nvSpPr>
          <p:spPr>
            <a:xfrm>
              <a:off x="2487240" y="6365160"/>
              <a:ext cx="5722920" cy="327600"/>
            </a:xfrm>
            <a:custGeom>
              <a:avLst/>
              <a:gdLst>
                <a:gd name="textAreaLeft" fmla="*/ 0 w 5722920"/>
                <a:gd name="textAreaRight" fmla="*/ 5724360 w 5722920"/>
                <a:gd name="textAreaTop" fmla="*/ 0 h 327600"/>
                <a:gd name="textAreaBottom" fmla="*/ 329040 h 327600"/>
              </a:gdLst>
              <a:ahLst/>
              <a:cxnLst/>
              <a:rect l="textAreaLeft" t="textAreaTop" r="textAreaRight" b="textAreaBottom"/>
              <a:pathLst>
                <a:path w="10247113" h="588714">
                  <a:moveTo>
                    <a:pt x="0" y="0"/>
                  </a:moveTo>
                  <a:lnTo>
                    <a:pt x="10247113" y="0"/>
                  </a:lnTo>
                  <a:lnTo>
                    <a:pt x="10247113" y="588714"/>
                  </a:lnTo>
                  <a:lnTo>
                    <a:pt x="0" y="588714"/>
                  </a:ln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pt-BR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TextBox 21"/>
            <p:cNvSpPr/>
            <p:nvPr/>
          </p:nvSpPr>
          <p:spPr>
            <a:xfrm>
              <a:off x="2487240" y="6354360"/>
              <a:ext cx="5722920" cy="338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just" defTabSz="914400">
                <a:lnSpc>
                  <a:spcPts val="1057"/>
                </a:lnSpc>
              </a:pPr>
              <a:r>
                <a:rPr b="0" lang="en-US" sz="800" spc="-17" strike="noStrike" u="none">
                  <a:solidFill>
                    <a:srgbClr val="000000"/>
                  </a:solidFill>
                  <a:effectLst/>
                  <a:uFillTx/>
                  <a:latin typeface="Inter"/>
                  <a:ea typeface="Inter"/>
                </a:rPr>
                <a:t>Este certificado é concedido como comprovação da participação no referido evento, tendo sido registrado na plataforma CEU. Sua autenticidade pode ser verificada por meio do código {CodigoAutenticador} em ceu/certificacao/verificar.php.</a:t>
              </a:r>
              <a:endParaRPr b="0" lang="pt-BR" sz="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LibreOffice/25.2.6.2$Windows_X86_64 LibreOffice_project/729c5bfe710f5eb71ed3bbde9e06a6065e9c6c5d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DAG4e3l5xu8</dc:identifier>
  <dc:language>pt-BR</dc:language>
  <cp:lastModifiedBy>Caike Moreira</cp:lastModifiedBy>
  <dcterms:modified xsi:type="dcterms:W3CDTF">2025-11-26T03:26:47Z</dcterms:modified>
  <cp:revision>8</cp:revision>
  <dc:subject/>
  <dc:title>Certificado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